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287000" cx="18288000"/>
  <p:notesSz cx="18288000" cy="10287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iqhLU8r+T3Ujt4KwUx4jiepylg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560993c30_0_1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g33560993c30_0_11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560993c30_0_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3560993c30_0_1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560993c30_0_2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3560993c30_0_2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560993c30_0_4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3560993c30_0_4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560993c30_0_7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3560993c30_0_7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2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2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2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3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type="ctrTitle"/>
          </p:nvPr>
        </p:nvSpPr>
        <p:spPr>
          <a:xfrm>
            <a:off x="2592070" y="3160216"/>
            <a:ext cx="13103859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00">
                <a:solidFill>
                  <a:srgbClr val="0A779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1" type="ftr"/>
          </p:nvPr>
        </p:nvSpPr>
        <p:spPr>
          <a:xfrm>
            <a:off x="7593583" y="9754359"/>
            <a:ext cx="411607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>
                <a:solidFill>
                  <a:srgbClr val="0A779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600">
                <a:solidFill>
                  <a:srgbClr val="0A779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" type="body"/>
          </p:nvPr>
        </p:nvSpPr>
        <p:spPr>
          <a:xfrm>
            <a:off x="1915414" y="2019844"/>
            <a:ext cx="1536700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1" type="ftr"/>
          </p:nvPr>
        </p:nvSpPr>
        <p:spPr>
          <a:xfrm>
            <a:off x="7593583" y="9754359"/>
            <a:ext cx="411607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>
                <a:solidFill>
                  <a:srgbClr val="0A779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4191" y="9922763"/>
            <a:ext cx="16543019" cy="6857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4"/>
          <p:cNvSpPr/>
          <p:nvPr/>
        </p:nvSpPr>
        <p:spPr>
          <a:xfrm>
            <a:off x="7373111" y="9717023"/>
            <a:ext cx="4555490" cy="407034"/>
          </a:xfrm>
          <a:custGeom>
            <a:rect b="b" l="l" r="r" t="t"/>
            <a:pathLst>
              <a:path extrusionOk="0" h="407034" w="4555490">
                <a:moveTo>
                  <a:pt x="4555236" y="0"/>
                </a:moveTo>
                <a:lnTo>
                  <a:pt x="0" y="0"/>
                </a:lnTo>
                <a:lnTo>
                  <a:pt x="0" y="406907"/>
                </a:lnTo>
                <a:lnTo>
                  <a:pt x="4555236" y="406907"/>
                </a:lnTo>
                <a:lnTo>
                  <a:pt x="45552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4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600">
                <a:solidFill>
                  <a:srgbClr val="0A779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1" type="ftr"/>
          </p:nvPr>
        </p:nvSpPr>
        <p:spPr>
          <a:xfrm>
            <a:off x="7593583" y="9754359"/>
            <a:ext cx="411607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>
                <a:solidFill>
                  <a:srgbClr val="0A779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5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600">
                <a:solidFill>
                  <a:srgbClr val="0A779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1" type="ftr"/>
          </p:nvPr>
        </p:nvSpPr>
        <p:spPr>
          <a:xfrm>
            <a:off x="7593583" y="9754359"/>
            <a:ext cx="411607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>
                <a:solidFill>
                  <a:srgbClr val="0A779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7593583" y="9754359"/>
            <a:ext cx="411607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>
                <a:solidFill>
                  <a:srgbClr val="0A779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600" u="none" cap="none" strike="noStrike">
                <a:solidFill>
                  <a:srgbClr val="0A779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1915414" y="2019844"/>
            <a:ext cx="1536700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1" type="ftr"/>
          </p:nvPr>
        </p:nvSpPr>
        <p:spPr>
          <a:xfrm>
            <a:off x="7593583" y="9754359"/>
            <a:ext cx="411607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A779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8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png"/><Relationship Id="rId7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1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46" name="Google Shape;4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1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1"/>
          <p:cNvSpPr txBox="1"/>
          <p:nvPr>
            <p:ph type="ctrTitle"/>
          </p:nvPr>
        </p:nvSpPr>
        <p:spPr>
          <a:xfrm>
            <a:off x="2592070" y="3160216"/>
            <a:ext cx="13104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5575">
            <a:spAutoFit/>
          </a:bodyPr>
          <a:lstStyle/>
          <a:p>
            <a:pPr indent="-4909185" lvl="0" marL="4921885" marR="508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Giới thiệu các framework </a:t>
            </a:r>
            <a:endParaRPr/>
          </a:p>
          <a:p>
            <a:pPr indent="-4909185" lvl="0" marL="4921885" marR="508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trực quan hóa</a:t>
            </a:r>
            <a:endParaRPr/>
          </a:p>
        </p:txBody>
      </p:sp>
      <p:sp>
        <p:nvSpPr>
          <p:cNvPr id="49" name="Google Shape;49;p1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"/>
          <p:cNvSpPr txBox="1"/>
          <p:nvPr/>
        </p:nvSpPr>
        <p:spPr>
          <a:xfrm>
            <a:off x="6098626" y="6433175"/>
            <a:ext cx="609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68533"/>
                </a:solidFill>
                <a:latin typeface="Arial"/>
                <a:ea typeface="Arial"/>
                <a:cs typeface="Arial"/>
                <a:sym typeface="Arial"/>
              </a:rPr>
              <a:t>Trình bày: Nguyễn Sơn Tùng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Mục tiêu bài học</a:t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1915426" y="2197950"/>
            <a:ext cx="15474000" cy="29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7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em sẽ học được gì sau bài giảng?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Tại sao phải trực quan hóa quá trình huấn luyện mô hình?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2555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Cách sử dụng các công cụ trực quan hóa huấn luyện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2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58" name="Google Shape;5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2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2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3614575" y="3031725"/>
            <a:ext cx="11309100" cy="2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0">
                <a:solidFill>
                  <a:srgbClr val="006FC0"/>
                </a:solidFill>
              </a:rPr>
              <a:t>Tổng quan huấn luyện mô hình học máy</a:t>
            </a:r>
            <a:endParaRPr sz="8100">
              <a:solidFill>
                <a:srgbClr val="006F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/>
        </p:nvSpPr>
        <p:spPr>
          <a:xfrm>
            <a:off x="886460" y="656081"/>
            <a:ext cx="11579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0A779F"/>
                </a:solidFill>
                <a:latin typeface="Arial"/>
                <a:ea typeface="Arial"/>
                <a:cs typeface="Arial"/>
                <a:sym typeface="Arial"/>
              </a:rPr>
              <a:t>Xây dựng mô hình </a:t>
            </a:r>
            <a:r>
              <a:rPr lang="en-US" sz="6600">
                <a:solidFill>
                  <a:srgbClr val="0A779F"/>
                </a:solidFill>
              </a:rPr>
              <a:t>học máy</a:t>
            </a:r>
            <a:endParaRPr b="0" i="0" sz="6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10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73" name="Google Shape;7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10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5" name="Google Shape;7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1532" y="3517391"/>
            <a:ext cx="13584936" cy="487222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/>
        </p:nvSpPr>
        <p:spPr>
          <a:xfrm>
            <a:off x="1915426" y="2197050"/>
            <a:ext cx="10675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Chúng ta cần thực hiện theo trình tự nào?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560993c30_0_11"/>
          <p:cNvSpPr txBox="1"/>
          <p:nvPr/>
        </p:nvSpPr>
        <p:spPr>
          <a:xfrm>
            <a:off x="886460" y="656081"/>
            <a:ext cx="11579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>
                <a:solidFill>
                  <a:srgbClr val="0A779F"/>
                </a:solidFill>
              </a:rPr>
              <a:t>Chuẩn bị dữ liệu</a:t>
            </a:r>
            <a:endParaRPr b="0" i="0" sz="6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g33560993c30_0_11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84" name="Google Shape;84;g33560993c30_0_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g33560993c30_0_11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33560993c30_0_11"/>
          <p:cNvSpPr txBox="1"/>
          <p:nvPr>
            <p:ph idx="12" type="sldNum"/>
          </p:nvPr>
        </p:nvSpPr>
        <p:spPr>
          <a:xfrm>
            <a:off x="17389475" y="9381249"/>
            <a:ext cx="34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g33560993c30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900" y="2832925"/>
            <a:ext cx="5124951" cy="34781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3560993c30_0_11"/>
          <p:cNvSpPr txBox="1"/>
          <p:nvPr/>
        </p:nvSpPr>
        <p:spPr>
          <a:xfrm>
            <a:off x="789525" y="6511475"/>
            <a:ext cx="5393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Thủ công</a:t>
            </a:r>
            <a:endParaRPr sz="4200">
              <a:solidFill>
                <a:schemeClr val="dk1"/>
              </a:solidFill>
            </a:endParaRPr>
          </a:p>
        </p:txBody>
      </p:sp>
      <p:pic>
        <p:nvPicPr>
          <p:cNvPr id="89" name="Google Shape;89;g33560993c30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5850" y="2832925"/>
            <a:ext cx="5238874" cy="347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3560993c30_0_11"/>
          <p:cNvSpPr txBox="1"/>
          <p:nvPr/>
        </p:nvSpPr>
        <p:spPr>
          <a:xfrm>
            <a:off x="6758425" y="6511475"/>
            <a:ext cx="5393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Crawl data</a:t>
            </a:r>
            <a:endParaRPr sz="4200">
              <a:solidFill>
                <a:schemeClr val="dk1"/>
              </a:solidFill>
            </a:endParaRPr>
          </a:p>
        </p:txBody>
      </p:sp>
      <p:pic>
        <p:nvPicPr>
          <p:cNvPr id="91" name="Google Shape;91;g33560993c30_0_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61725" y="2527100"/>
            <a:ext cx="4089800" cy="40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3560993c30_0_11"/>
          <p:cNvSpPr txBox="1"/>
          <p:nvPr/>
        </p:nvSpPr>
        <p:spPr>
          <a:xfrm>
            <a:off x="12209775" y="6540700"/>
            <a:ext cx="5393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Dữ liệu sẵn có</a:t>
            </a:r>
            <a:endParaRPr sz="4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560993c30_0_1"/>
          <p:cNvSpPr txBox="1"/>
          <p:nvPr/>
        </p:nvSpPr>
        <p:spPr>
          <a:xfrm>
            <a:off x="886460" y="656081"/>
            <a:ext cx="11579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>
                <a:solidFill>
                  <a:srgbClr val="0A779F"/>
                </a:solidFill>
              </a:rPr>
              <a:t>Cơ chế huấn luyện mô hình</a:t>
            </a:r>
            <a:endParaRPr b="0" i="0" sz="6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g33560993c30_0_1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99" name="Google Shape;99;g33560993c30_0_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g33560993c30_0_1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g33560993c30_0_1"/>
          <p:cNvSpPr txBox="1"/>
          <p:nvPr>
            <p:ph idx="12" type="sldNum"/>
          </p:nvPr>
        </p:nvSpPr>
        <p:spPr>
          <a:xfrm>
            <a:off x="17389475" y="9381249"/>
            <a:ext cx="34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g33560993c30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5963" y="2054648"/>
            <a:ext cx="8556074" cy="276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3560993c30_0_1"/>
          <p:cNvSpPr txBox="1"/>
          <p:nvPr/>
        </p:nvSpPr>
        <p:spPr>
          <a:xfrm>
            <a:off x="1325400" y="6098250"/>
            <a:ext cx="156372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x là input, y là output, tìm w sao cho f(x, w) ≈ y</a:t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y’ = f(x,w) =&gt; min L(y’, y), L là hàm mất mát.</a:t>
            </a:r>
            <a:endParaRPr sz="4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560993c30_0_29"/>
          <p:cNvSpPr txBox="1"/>
          <p:nvPr/>
        </p:nvSpPr>
        <p:spPr>
          <a:xfrm>
            <a:off x="886460" y="656081"/>
            <a:ext cx="11579100" cy="20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>
                <a:solidFill>
                  <a:srgbClr val="0A779F"/>
                </a:solidFill>
              </a:rPr>
              <a:t>Các phương pháp tối ưu</a:t>
            </a:r>
            <a:br>
              <a:rPr lang="en-US" sz="6600">
                <a:solidFill>
                  <a:srgbClr val="0A779F"/>
                </a:solidFill>
              </a:rPr>
            </a:br>
            <a:endParaRPr b="0" i="0" sz="6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g33560993c30_0_29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110" name="Google Shape;110;g33560993c30_0_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g33560993c30_0_29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g33560993c30_0_29"/>
          <p:cNvSpPr txBox="1"/>
          <p:nvPr>
            <p:ph idx="12" type="sldNum"/>
          </p:nvPr>
        </p:nvSpPr>
        <p:spPr>
          <a:xfrm>
            <a:off x="17389475" y="9381249"/>
            <a:ext cx="34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g33560993c30_0_29"/>
          <p:cNvSpPr txBox="1"/>
          <p:nvPr/>
        </p:nvSpPr>
        <p:spPr>
          <a:xfrm>
            <a:off x="607700" y="2575025"/>
            <a:ext cx="156372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min L(y’, y) =&gt; Tính đạo hàm L’(w)</a:t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Đặt L’(w) = 0</a:t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=&gt; Tìm w</a:t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=&gt; Closed form solution</a:t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</p:txBody>
      </p:sp>
      <p:pic>
        <p:nvPicPr>
          <p:cNvPr id="114" name="Google Shape;114;g33560993c30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2075" y="2995325"/>
            <a:ext cx="8019700" cy="362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560993c30_0_42"/>
          <p:cNvSpPr txBox="1"/>
          <p:nvPr/>
        </p:nvSpPr>
        <p:spPr>
          <a:xfrm>
            <a:off x="774210" y="395106"/>
            <a:ext cx="11579100" cy="13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4400">
                <a:solidFill>
                  <a:srgbClr val="0A779F"/>
                </a:solidFill>
              </a:rPr>
              <a:t>Các phương pháp tối ưu</a:t>
            </a:r>
            <a:br>
              <a:rPr lang="en-US" sz="4400">
                <a:solidFill>
                  <a:srgbClr val="0A779F"/>
                </a:solidFill>
              </a:rPr>
            </a:b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g33560993c30_0_42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121" name="Google Shape;121;g33560993c30_0_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g33560993c30_0_42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g33560993c30_0_42"/>
          <p:cNvSpPr txBox="1"/>
          <p:nvPr>
            <p:ph idx="12" type="sldNum"/>
          </p:nvPr>
        </p:nvSpPr>
        <p:spPr>
          <a:xfrm>
            <a:off x="17389475" y="9381249"/>
            <a:ext cx="34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4" name="Google Shape;124;g33560993c30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90972" y="1914906"/>
            <a:ext cx="7667625" cy="574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3560993c30_0_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200" y="1731531"/>
            <a:ext cx="8520914" cy="7649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560993c30_0_73"/>
          <p:cNvSpPr txBox="1"/>
          <p:nvPr/>
        </p:nvSpPr>
        <p:spPr>
          <a:xfrm>
            <a:off x="886460" y="656081"/>
            <a:ext cx="11579100" cy="20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>
                <a:solidFill>
                  <a:srgbClr val="0A779F"/>
                </a:solidFill>
              </a:rPr>
              <a:t>Các thông số cần theo dõi</a:t>
            </a:r>
            <a:br>
              <a:rPr lang="en-US" sz="6600">
                <a:solidFill>
                  <a:srgbClr val="0A779F"/>
                </a:solidFill>
              </a:rPr>
            </a:br>
            <a:endParaRPr b="0" i="0" sz="6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g33560993c30_0_73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132" name="Google Shape;132;g33560993c30_0_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g33560993c30_0_73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g33560993c30_0_73"/>
          <p:cNvSpPr txBox="1"/>
          <p:nvPr>
            <p:ph idx="12" type="sldNum"/>
          </p:nvPr>
        </p:nvSpPr>
        <p:spPr>
          <a:xfrm>
            <a:off x="17389475" y="9381249"/>
            <a:ext cx="34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g33560993c30_0_73"/>
          <p:cNvSpPr txBox="1"/>
          <p:nvPr/>
        </p:nvSpPr>
        <p:spPr>
          <a:xfrm>
            <a:off x="607700" y="2575025"/>
            <a:ext cx="93357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-"/>
            </a:pPr>
            <a:r>
              <a:rPr lang="en-US" sz="4200">
                <a:solidFill>
                  <a:schemeClr val="dk1"/>
                </a:solidFill>
              </a:rPr>
              <a:t>Loss Function (Hàm mất mát)</a:t>
            </a:r>
            <a:endParaRPr sz="4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-"/>
            </a:pPr>
            <a:r>
              <a:rPr lang="en-US" sz="4200">
                <a:solidFill>
                  <a:schemeClr val="dk1"/>
                </a:solidFill>
              </a:rPr>
              <a:t>Accuracy (Độ chính xác)</a:t>
            </a:r>
            <a:endParaRPr sz="42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-"/>
            </a:pPr>
            <a:r>
              <a:rPr lang="en-US" sz="4200">
                <a:solidFill>
                  <a:schemeClr val="dk1"/>
                </a:solidFill>
              </a:rPr>
              <a:t>Epochs và Early Stopping</a:t>
            </a:r>
            <a:endParaRPr sz="42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-"/>
            </a:pPr>
            <a:r>
              <a:rPr lang="en-US" sz="4200">
                <a:solidFill>
                  <a:schemeClr val="dk1"/>
                </a:solidFill>
              </a:rPr>
              <a:t>Các metrics khác (F1, precison, recall, …)</a:t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</p:txBody>
      </p:sp>
      <p:pic>
        <p:nvPicPr>
          <p:cNvPr id="136" name="Google Shape;136;g33560993c30_0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39075" y="1955568"/>
            <a:ext cx="7870900" cy="6375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1834638" y="3384300"/>
            <a:ext cx="146187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225">
            <a:spAutoFit/>
          </a:bodyPr>
          <a:lstStyle/>
          <a:p>
            <a:pPr indent="0" lvl="0" marL="12065" marR="5080" rtl="0" algn="ctr">
              <a:lnSpc>
                <a:spcPct val="89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100"/>
              <a:t>Các công	cụ	trực quan	hóa quá trình huấn luyện trong Python</a:t>
            </a:r>
            <a:endParaRPr sz="8100"/>
          </a:p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Tổng quan về các công cụ trực quan hóa</a:t>
            </a:r>
            <a:endParaRPr/>
          </a:p>
        </p:txBody>
      </p:sp>
      <p:grpSp>
        <p:nvGrpSpPr>
          <p:cNvPr id="148" name="Google Shape;148;p18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149" name="Google Shape;14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8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18"/>
          <p:cNvSpPr txBox="1"/>
          <p:nvPr/>
        </p:nvSpPr>
        <p:spPr>
          <a:xfrm>
            <a:off x="1915425" y="2049225"/>
            <a:ext cx="142986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Tại sao phải trực quan hóa quá trình huấn luyện mô hình?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18"/>
          <p:cNvGrpSpPr/>
          <p:nvPr/>
        </p:nvGrpSpPr>
        <p:grpSpPr>
          <a:xfrm>
            <a:off x="1603712" y="3735323"/>
            <a:ext cx="7326231" cy="4305591"/>
            <a:chOff x="1603712" y="3735323"/>
            <a:chExt cx="7326231" cy="4305591"/>
          </a:xfrm>
        </p:grpSpPr>
        <p:pic>
          <p:nvPicPr>
            <p:cNvPr id="153" name="Google Shape;15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03712" y="3735323"/>
              <a:ext cx="7326231" cy="34580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8"/>
            <p:cNvSpPr/>
            <p:nvPr/>
          </p:nvSpPr>
          <p:spPr>
            <a:xfrm>
              <a:off x="3089986" y="7131595"/>
              <a:ext cx="5226050" cy="909319"/>
            </a:xfrm>
            <a:custGeom>
              <a:rect b="b" l="l" r="r" t="t"/>
              <a:pathLst>
                <a:path extrusionOk="0" h="909320" w="5226050">
                  <a:moveTo>
                    <a:pt x="300329" y="248742"/>
                  </a:moveTo>
                  <a:lnTo>
                    <a:pt x="298704" y="240893"/>
                  </a:lnTo>
                  <a:lnTo>
                    <a:pt x="293852" y="237553"/>
                  </a:lnTo>
                  <a:lnTo>
                    <a:pt x="270725" y="216192"/>
                  </a:lnTo>
                  <a:lnTo>
                    <a:pt x="248373" y="194322"/>
                  </a:lnTo>
                  <a:lnTo>
                    <a:pt x="204457" y="150126"/>
                  </a:lnTo>
                  <a:lnTo>
                    <a:pt x="189776" y="135661"/>
                  </a:lnTo>
                  <a:lnTo>
                    <a:pt x="160324" y="106959"/>
                  </a:lnTo>
                  <a:lnTo>
                    <a:pt x="145707" y="92367"/>
                  </a:lnTo>
                  <a:lnTo>
                    <a:pt x="139357" y="85852"/>
                  </a:lnTo>
                  <a:lnTo>
                    <a:pt x="130289" y="76568"/>
                  </a:lnTo>
                  <a:lnTo>
                    <a:pt x="114935" y="60540"/>
                  </a:lnTo>
                  <a:lnTo>
                    <a:pt x="99695" y="44221"/>
                  </a:lnTo>
                  <a:lnTo>
                    <a:pt x="84607" y="27520"/>
                  </a:lnTo>
                  <a:lnTo>
                    <a:pt x="79743" y="21945"/>
                  </a:lnTo>
                  <a:lnTo>
                    <a:pt x="72783" y="14427"/>
                  </a:lnTo>
                  <a:lnTo>
                    <a:pt x="64795" y="7099"/>
                  </a:lnTo>
                  <a:lnTo>
                    <a:pt x="56819" y="2095"/>
                  </a:lnTo>
                  <a:lnTo>
                    <a:pt x="49441" y="0"/>
                  </a:lnTo>
                  <a:lnTo>
                    <a:pt x="42367" y="12"/>
                  </a:lnTo>
                  <a:lnTo>
                    <a:pt x="14706" y="28663"/>
                  </a:lnTo>
                  <a:lnTo>
                    <a:pt x="5156" y="78130"/>
                  </a:lnTo>
                  <a:lnTo>
                    <a:pt x="990" y="125095"/>
                  </a:lnTo>
                  <a:lnTo>
                    <a:pt x="0" y="175488"/>
                  </a:lnTo>
                  <a:lnTo>
                    <a:pt x="774" y="224447"/>
                  </a:lnTo>
                  <a:lnTo>
                    <a:pt x="1917" y="276009"/>
                  </a:lnTo>
                  <a:lnTo>
                    <a:pt x="1854" y="322999"/>
                  </a:lnTo>
                  <a:lnTo>
                    <a:pt x="1524" y="331177"/>
                  </a:lnTo>
                  <a:lnTo>
                    <a:pt x="952" y="347433"/>
                  </a:lnTo>
                  <a:lnTo>
                    <a:pt x="749" y="368681"/>
                  </a:lnTo>
                  <a:lnTo>
                    <a:pt x="1549" y="391858"/>
                  </a:lnTo>
                  <a:lnTo>
                    <a:pt x="7874" y="432854"/>
                  </a:lnTo>
                  <a:lnTo>
                    <a:pt x="9144" y="440270"/>
                  </a:lnTo>
                  <a:lnTo>
                    <a:pt x="25933" y="445554"/>
                  </a:lnTo>
                  <a:lnTo>
                    <a:pt x="35877" y="439369"/>
                  </a:lnTo>
                  <a:lnTo>
                    <a:pt x="43053" y="428421"/>
                  </a:lnTo>
                  <a:lnTo>
                    <a:pt x="46075" y="414248"/>
                  </a:lnTo>
                  <a:lnTo>
                    <a:pt x="48704" y="323977"/>
                  </a:lnTo>
                  <a:lnTo>
                    <a:pt x="49403" y="277063"/>
                  </a:lnTo>
                  <a:lnTo>
                    <a:pt x="48958" y="228981"/>
                  </a:lnTo>
                  <a:lnTo>
                    <a:pt x="48806" y="178193"/>
                  </a:lnTo>
                  <a:lnTo>
                    <a:pt x="48831" y="177114"/>
                  </a:lnTo>
                  <a:lnTo>
                    <a:pt x="50050" y="139560"/>
                  </a:lnTo>
                  <a:lnTo>
                    <a:pt x="39293" y="94513"/>
                  </a:lnTo>
                  <a:lnTo>
                    <a:pt x="38519" y="91668"/>
                  </a:lnTo>
                  <a:lnTo>
                    <a:pt x="39674" y="88455"/>
                  </a:lnTo>
                  <a:lnTo>
                    <a:pt x="44183" y="86461"/>
                  </a:lnTo>
                  <a:lnTo>
                    <a:pt x="46697" y="87757"/>
                  </a:lnTo>
                  <a:lnTo>
                    <a:pt x="47472" y="90614"/>
                  </a:lnTo>
                  <a:lnTo>
                    <a:pt x="52362" y="103670"/>
                  </a:lnTo>
                  <a:lnTo>
                    <a:pt x="53632" y="92557"/>
                  </a:lnTo>
                  <a:lnTo>
                    <a:pt x="54432" y="87033"/>
                  </a:lnTo>
                  <a:lnTo>
                    <a:pt x="55270" y="81216"/>
                  </a:lnTo>
                  <a:lnTo>
                    <a:pt x="106235" y="135191"/>
                  </a:lnTo>
                  <a:lnTo>
                    <a:pt x="159600" y="183235"/>
                  </a:lnTo>
                  <a:lnTo>
                    <a:pt x="220002" y="224485"/>
                  </a:lnTo>
                  <a:lnTo>
                    <a:pt x="283718" y="260057"/>
                  </a:lnTo>
                  <a:lnTo>
                    <a:pt x="288607" y="263563"/>
                  </a:lnTo>
                  <a:lnTo>
                    <a:pt x="294754" y="261124"/>
                  </a:lnTo>
                  <a:lnTo>
                    <a:pt x="300329" y="248742"/>
                  </a:lnTo>
                  <a:close/>
                </a:path>
                <a:path extrusionOk="0" h="909320" w="5226050">
                  <a:moveTo>
                    <a:pt x="771842" y="862063"/>
                  </a:moveTo>
                  <a:lnTo>
                    <a:pt x="770255" y="861060"/>
                  </a:lnTo>
                  <a:lnTo>
                    <a:pt x="767422" y="858799"/>
                  </a:lnTo>
                  <a:lnTo>
                    <a:pt x="697191" y="828078"/>
                  </a:lnTo>
                  <a:lnTo>
                    <a:pt x="637438" y="800912"/>
                  </a:lnTo>
                  <a:lnTo>
                    <a:pt x="579666" y="767105"/>
                  </a:lnTo>
                  <a:lnTo>
                    <a:pt x="523138" y="728319"/>
                  </a:lnTo>
                  <a:lnTo>
                    <a:pt x="468414" y="686320"/>
                  </a:lnTo>
                  <a:lnTo>
                    <a:pt x="434822" y="658837"/>
                  </a:lnTo>
                  <a:lnTo>
                    <a:pt x="402234" y="629742"/>
                  </a:lnTo>
                  <a:lnTo>
                    <a:pt x="370598" y="599313"/>
                  </a:lnTo>
                  <a:lnTo>
                    <a:pt x="339852" y="567778"/>
                  </a:lnTo>
                  <a:lnTo>
                    <a:pt x="309613" y="534911"/>
                  </a:lnTo>
                  <a:lnTo>
                    <a:pt x="280365" y="500824"/>
                  </a:lnTo>
                  <a:lnTo>
                    <a:pt x="252158" y="465480"/>
                  </a:lnTo>
                  <a:lnTo>
                    <a:pt x="225044" y="428790"/>
                  </a:lnTo>
                  <a:lnTo>
                    <a:pt x="193878" y="382955"/>
                  </a:lnTo>
                  <a:lnTo>
                    <a:pt x="164033" y="335407"/>
                  </a:lnTo>
                  <a:lnTo>
                    <a:pt x="137414" y="289572"/>
                  </a:lnTo>
                  <a:lnTo>
                    <a:pt x="112280" y="242366"/>
                  </a:lnTo>
                  <a:lnTo>
                    <a:pt x="88798" y="193586"/>
                  </a:lnTo>
                  <a:lnTo>
                    <a:pt x="67221" y="143268"/>
                  </a:lnTo>
                  <a:lnTo>
                    <a:pt x="52362" y="103670"/>
                  </a:lnTo>
                  <a:lnTo>
                    <a:pt x="51257" y="115925"/>
                  </a:lnTo>
                  <a:lnTo>
                    <a:pt x="50444" y="127825"/>
                  </a:lnTo>
                  <a:lnTo>
                    <a:pt x="50050" y="139560"/>
                  </a:lnTo>
                  <a:lnTo>
                    <a:pt x="50673" y="142163"/>
                  </a:lnTo>
                  <a:lnTo>
                    <a:pt x="63601" y="189166"/>
                  </a:lnTo>
                  <a:lnTo>
                    <a:pt x="77952" y="234899"/>
                  </a:lnTo>
                  <a:lnTo>
                    <a:pt x="93840" y="279514"/>
                  </a:lnTo>
                  <a:lnTo>
                    <a:pt x="111277" y="322973"/>
                  </a:lnTo>
                  <a:lnTo>
                    <a:pt x="130314" y="365226"/>
                  </a:lnTo>
                  <a:lnTo>
                    <a:pt x="157861" y="418350"/>
                  </a:lnTo>
                  <a:lnTo>
                    <a:pt x="187985" y="469125"/>
                  </a:lnTo>
                  <a:lnTo>
                    <a:pt x="214884" y="509612"/>
                  </a:lnTo>
                  <a:lnTo>
                    <a:pt x="243243" y="548462"/>
                  </a:lnTo>
                  <a:lnTo>
                    <a:pt x="273062" y="585622"/>
                  </a:lnTo>
                  <a:lnTo>
                    <a:pt x="304304" y="621030"/>
                  </a:lnTo>
                  <a:lnTo>
                    <a:pt x="336689" y="654062"/>
                  </a:lnTo>
                  <a:lnTo>
                    <a:pt x="370395" y="685165"/>
                  </a:lnTo>
                  <a:lnTo>
                    <a:pt x="405244" y="714527"/>
                  </a:lnTo>
                  <a:lnTo>
                    <a:pt x="441058" y="742340"/>
                  </a:lnTo>
                  <a:lnTo>
                    <a:pt x="475653" y="767067"/>
                  </a:lnTo>
                  <a:lnTo>
                    <a:pt x="510908" y="790841"/>
                  </a:lnTo>
                  <a:lnTo>
                    <a:pt x="546849" y="813206"/>
                  </a:lnTo>
                  <a:lnTo>
                    <a:pt x="583526" y="833704"/>
                  </a:lnTo>
                  <a:lnTo>
                    <a:pt x="634098" y="857592"/>
                  </a:lnTo>
                  <a:lnTo>
                    <a:pt x="685952" y="876515"/>
                  </a:lnTo>
                  <a:lnTo>
                    <a:pt x="736981" y="885215"/>
                  </a:lnTo>
                  <a:lnTo>
                    <a:pt x="756754" y="881443"/>
                  </a:lnTo>
                  <a:lnTo>
                    <a:pt x="767308" y="876325"/>
                  </a:lnTo>
                  <a:lnTo>
                    <a:pt x="769937" y="870902"/>
                  </a:lnTo>
                  <a:lnTo>
                    <a:pt x="771461" y="863981"/>
                  </a:lnTo>
                  <a:lnTo>
                    <a:pt x="771842" y="862063"/>
                  </a:lnTo>
                  <a:close/>
                </a:path>
                <a:path extrusionOk="0" h="909320" w="5226050">
                  <a:moveTo>
                    <a:pt x="5172087" y="137668"/>
                  </a:moveTo>
                  <a:lnTo>
                    <a:pt x="5132248" y="214058"/>
                  </a:lnTo>
                  <a:lnTo>
                    <a:pt x="5107013" y="256794"/>
                  </a:lnTo>
                  <a:lnTo>
                    <a:pt x="5080622" y="298119"/>
                  </a:lnTo>
                  <a:lnTo>
                    <a:pt x="5053177" y="338175"/>
                  </a:lnTo>
                  <a:lnTo>
                    <a:pt x="5024755" y="377101"/>
                  </a:lnTo>
                  <a:lnTo>
                    <a:pt x="4987099" y="425424"/>
                  </a:lnTo>
                  <a:lnTo>
                    <a:pt x="4948250" y="471716"/>
                  </a:lnTo>
                  <a:lnTo>
                    <a:pt x="4914824" y="508520"/>
                  </a:lnTo>
                  <a:lnTo>
                    <a:pt x="4880381" y="543725"/>
                  </a:lnTo>
                  <a:lnTo>
                    <a:pt x="4844986" y="577418"/>
                  </a:lnTo>
                  <a:lnTo>
                    <a:pt x="4808664" y="609676"/>
                  </a:lnTo>
                  <a:lnTo>
                    <a:pt x="4771961" y="640410"/>
                  </a:lnTo>
                  <a:lnTo>
                    <a:pt x="4734445" y="669836"/>
                  </a:lnTo>
                  <a:lnTo>
                    <a:pt x="4696066" y="697674"/>
                  </a:lnTo>
                  <a:lnTo>
                    <a:pt x="4656798" y="723658"/>
                  </a:lnTo>
                  <a:lnTo>
                    <a:pt x="4593196" y="762939"/>
                  </a:lnTo>
                  <a:lnTo>
                    <a:pt x="4528020" y="798499"/>
                  </a:lnTo>
                  <a:lnTo>
                    <a:pt x="4462094" y="828484"/>
                  </a:lnTo>
                  <a:lnTo>
                    <a:pt x="4394860" y="850976"/>
                  </a:lnTo>
                  <a:lnTo>
                    <a:pt x="4315980" y="876096"/>
                  </a:lnTo>
                  <a:lnTo>
                    <a:pt x="4312678" y="878230"/>
                  </a:lnTo>
                  <a:lnTo>
                    <a:pt x="4310862" y="879132"/>
                  </a:lnTo>
                  <a:lnTo>
                    <a:pt x="4311040" y="881265"/>
                  </a:lnTo>
                  <a:lnTo>
                    <a:pt x="4345419" y="908583"/>
                  </a:lnTo>
                  <a:lnTo>
                    <a:pt x="4369816" y="909027"/>
                  </a:lnTo>
                  <a:lnTo>
                    <a:pt x="4390758" y="906792"/>
                  </a:lnTo>
                  <a:lnTo>
                    <a:pt x="4430077" y="898715"/>
                  </a:lnTo>
                  <a:lnTo>
                    <a:pt x="4487507" y="881380"/>
                  </a:lnTo>
                  <a:lnTo>
                    <a:pt x="4557636" y="852754"/>
                  </a:lnTo>
                  <a:lnTo>
                    <a:pt x="4598797" y="832650"/>
                  </a:lnTo>
                  <a:lnTo>
                    <a:pt x="4639386" y="810920"/>
                  </a:lnTo>
                  <a:lnTo>
                    <a:pt x="4679391" y="788073"/>
                  </a:lnTo>
                  <a:lnTo>
                    <a:pt x="4721072" y="762012"/>
                  </a:lnTo>
                  <a:lnTo>
                    <a:pt x="4761903" y="734136"/>
                  </a:lnTo>
                  <a:lnTo>
                    <a:pt x="4801730" y="704227"/>
                  </a:lnTo>
                  <a:lnTo>
                    <a:pt x="4840351" y="672058"/>
                  </a:lnTo>
                  <a:lnTo>
                    <a:pt x="4878044" y="637146"/>
                  </a:lnTo>
                  <a:lnTo>
                    <a:pt x="4914417" y="600163"/>
                  </a:lnTo>
                  <a:lnTo>
                    <a:pt x="4949444" y="561149"/>
                  </a:lnTo>
                  <a:lnTo>
                    <a:pt x="4983099" y="520179"/>
                  </a:lnTo>
                  <a:lnTo>
                    <a:pt x="5021440" y="468376"/>
                  </a:lnTo>
                  <a:lnTo>
                    <a:pt x="5057279" y="413689"/>
                  </a:lnTo>
                  <a:lnTo>
                    <a:pt x="5082730" y="369849"/>
                  </a:lnTo>
                  <a:lnTo>
                    <a:pt x="5106619" y="324510"/>
                  </a:lnTo>
                  <a:lnTo>
                    <a:pt x="5128958" y="277723"/>
                  </a:lnTo>
                  <a:lnTo>
                    <a:pt x="5149812" y="229527"/>
                  </a:lnTo>
                  <a:lnTo>
                    <a:pt x="5169205" y="179971"/>
                  </a:lnTo>
                  <a:lnTo>
                    <a:pt x="5171795" y="151053"/>
                  </a:lnTo>
                  <a:lnTo>
                    <a:pt x="5172087" y="137668"/>
                  </a:lnTo>
                  <a:close/>
                </a:path>
                <a:path extrusionOk="0" h="909320" w="5226050">
                  <a:moveTo>
                    <a:pt x="5225694" y="115316"/>
                  </a:moveTo>
                  <a:lnTo>
                    <a:pt x="5222189" y="66281"/>
                  </a:lnTo>
                  <a:lnTo>
                    <a:pt x="5202123" y="28549"/>
                  </a:lnTo>
                  <a:lnTo>
                    <a:pt x="5187632" y="24752"/>
                  </a:lnTo>
                  <a:lnTo>
                    <a:pt x="5179479" y="26136"/>
                  </a:lnTo>
                  <a:lnTo>
                    <a:pt x="5170335" y="30657"/>
                  </a:lnTo>
                  <a:lnTo>
                    <a:pt x="5160899" y="37693"/>
                  </a:lnTo>
                  <a:lnTo>
                    <a:pt x="5152555" y="45059"/>
                  </a:lnTo>
                  <a:lnTo>
                    <a:pt x="5146675" y="50571"/>
                  </a:lnTo>
                  <a:lnTo>
                    <a:pt x="5128514" y="66992"/>
                  </a:lnTo>
                  <a:lnTo>
                    <a:pt x="5110238" y="82981"/>
                  </a:lnTo>
                  <a:lnTo>
                    <a:pt x="5091887" y="98628"/>
                  </a:lnTo>
                  <a:lnTo>
                    <a:pt x="5081067" y="107683"/>
                  </a:lnTo>
                  <a:lnTo>
                    <a:pt x="5073485" y="114033"/>
                  </a:lnTo>
                  <a:lnTo>
                    <a:pt x="5056098" y="128206"/>
                  </a:lnTo>
                  <a:lnTo>
                    <a:pt x="5021110" y="156006"/>
                  </a:lnTo>
                  <a:lnTo>
                    <a:pt x="5003673" y="170040"/>
                  </a:lnTo>
                  <a:lnTo>
                    <a:pt x="4951349" y="213017"/>
                  </a:lnTo>
                  <a:lnTo>
                    <a:pt x="4924793" y="234213"/>
                  </a:lnTo>
                  <a:lnTo>
                    <a:pt x="4897475" y="254749"/>
                  </a:lnTo>
                  <a:lnTo>
                    <a:pt x="4891875" y="257810"/>
                  </a:lnTo>
                  <a:lnTo>
                    <a:pt x="4889195" y="266179"/>
                  </a:lnTo>
                  <a:lnTo>
                    <a:pt x="4893691" y="280365"/>
                  </a:lnTo>
                  <a:lnTo>
                    <a:pt x="4899977" y="283768"/>
                  </a:lnTo>
                  <a:lnTo>
                    <a:pt x="4905629" y="280530"/>
                  </a:lnTo>
                  <a:lnTo>
                    <a:pt x="4942205" y="265366"/>
                  </a:lnTo>
                  <a:lnTo>
                    <a:pt x="4978108" y="249326"/>
                  </a:lnTo>
                  <a:lnTo>
                    <a:pt x="5013299" y="231648"/>
                  </a:lnTo>
                  <a:lnTo>
                    <a:pt x="5047729" y="211543"/>
                  </a:lnTo>
                  <a:lnTo>
                    <a:pt x="5079568" y="189661"/>
                  </a:lnTo>
                  <a:lnTo>
                    <a:pt x="5110619" y="165506"/>
                  </a:lnTo>
                  <a:lnTo>
                    <a:pt x="5141214" y="139649"/>
                  </a:lnTo>
                  <a:lnTo>
                    <a:pt x="5171656" y="112687"/>
                  </a:lnTo>
                  <a:lnTo>
                    <a:pt x="5171859" y="119138"/>
                  </a:lnTo>
                  <a:lnTo>
                    <a:pt x="5172062" y="125260"/>
                  </a:lnTo>
                  <a:lnTo>
                    <a:pt x="5172087" y="137668"/>
                  </a:lnTo>
                  <a:lnTo>
                    <a:pt x="5178882" y="123875"/>
                  </a:lnTo>
                  <a:lnTo>
                    <a:pt x="5180063" y="120853"/>
                  </a:lnTo>
                  <a:lnTo>
                    <a:pt x="5182895" y="119748"/>
                  </a:lnTo>
                  <a:lnTo>
                    <a:pt x="5187493" y="122466"/>
                  </a:lnTo>
                  <a:lnTo>
                    <a:pt x="5188356" y="126098"/>
                  </a:lnTo>
                  <a:lnTo>
                    <a:pt x="5187175" y="129120"/>
                  </a:lnTo>
                  <a:lnTo>
                    <a:pt x="5170259" y="176999"/>
                  </a:lnTo>
                  <a:lnTo>
                    <a:pt x="5167236" y="215988"/>
                  </a:lnTo>
                  <a:lnTo>
                    <a:pt x="5166969" y="219303"/>
                  </a:lnTo>
                  <a:lnTo>
                    <a:pt x="5160721" y="274726"/>
                  </a:lnTo>
                  <a:lnTo>
                    <a:pt x="5154485" y="327152"/>
                  </a:lnTo>
                  <a:lnTo>
                    <a:pt x="5149608" y="378447"/>
                  </a:lnTo>
                  <a:lnTo>
                    <a:pt x="5141620" y="477278"/>
                  </a:lnTo>
                  <a:lnTo>
                    <a:pt x="5143157" y="493115"/>
                  </a:lnTo>
                  <a:lnTo>
                    <a:pt x="5149520" y="505929"/>
                  </a:lnTo>
                  <a:lnTo>
                    <a:pt x="5159438" y="513854"/>
                  </a:lnTo>
                  <a:lnTo>
                    <a:pt x="5171592" y="515073"/>
                  </a:lnTo>
                  <a:lnTo>
                    <a:pt x="5172926" y="514807"/>
                  </a:lnTo>
                  <a:lnTo>
                    <a:pt x="5173980" y="514400"/>
                  </a:lnTo>
                  <a:lnTo>
                    <a:pt x="5174424" y="513969"/>
                  </a:lnTo>
                  <a:lnTo>
                    <a:pt x="5178044" y="510108"/>
                  </a:lnTo>
                  <a:lnTo>
                    <a:pt x="5180292" y="502170"/>
                  </a:lnTo>
                  <a:lnTo>
                    <a:pt x="5184051" y="491147"/>
                  </a:lnTo>
                  <a:lnTo>
                    <a:pt x="5195608" y="432968"/>
                  </a:lnTo>
                  <a:lnTo>
                    <a:pt x="5199265" y="391960"/>
                  </a:lnTo>
                  <a:lnTo>
                    <a:pt x="5199888" y="382993"/>
                  </a:lnTo>
                  <a:lnTo>
                    <a:pt x="5205463" y="331698"/>
                  </a:lnTo>
                  <a:lnTo>
                    <a:pt x="5212867" y="275539"/>
                  </a:lnTo>
                  <a:lnTo>
                    <a:pt x="5219547" y="222211"/>
                  </a:lnTo>
                  <a:lnTo>
                    <a:pt x="5224526" y="167081"/>
                  </a:lnTo>
                  <a:lnTo>
                    <a:pt x="5225618" y="140627"/>
                  </a:lnTo>
                  <a:lnTo>
                    <a:pt x="5225694" y="1153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5" name="Google Shape;15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10329" y="3510834"/>
            <a:ext cx="6197129" cy="434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3279394" y="8140445"/>
            <a:ext cx="465074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Làm sao để nhận ra kịp thời?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Tổng quan về các công cụ trực quan hóa</a:t>
            </a:r>
            <a:endParaRPr/>
          </a:p>
        </p:txBody>
      </p:sp>
      <p:grpSp>
        <p:nvGrpSpPr>
          <p:cNvPr id="163" name="Google Shape;163;p19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164" name="Google Shape;16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9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p19"/>
          <p:cNvSpPr txBox="1"/>
          <p:nvPr/>
        </p:nvSpPr>
        <p:spPr>
          <a:xfrm>
            <a:off x="1915426" y="2049225"/>
            <a:ext cx="70590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 dụng các công cụ nào?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19"/>
          <p:cNvGrpSpPr/>
          <p:nvPr/>
        </p:nvGrpSpPr>
        <p:grpSpPr>
          <a:xfrm>
            <a:off x="3429000" y="3505200"/>
            <a:ext cx="11811000" cy="5143500"/>
            <a:chOff x="3429000" y="3505200"/>
            <a:chExt cx="11811000" cy="5143500"/>
          </a:xfrm>
        </p:grpSpPr>
        <p:pic>
          <p:nvPicPr>
            <p:cNvPr id="168" name="Google Shape;16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29000" y="3505200"/>
              <a:ext cx="260604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9"/>
            <p:cNvSpPr/>
            <p:nvPr/>
          </p:nvSpPr>
          <p:spPr>
            <a:xfrm>
              <a:off x="3429000" y="6077711"/>
              <a:ext cx="11811000" cy="0"/>
            </a:xfrm>
            <a:custGeom>
              <a:rect b="b" l="l" r="r" t="t"/>
              <a:pathLst>
                <a:path extrusionOk="0" h="120000" w="11811000">
                  <a:moveTo>
                    <a:pt x="0" y="0"/>
                  </a:moveTo>
                  <a:lnTo>
                    <a:pt x="1181100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19"/>
          <p:cNvSpPr txBox="1"/>
          <p:nvPr/>
        </p:nvSpPr>
        <p:spPr>
          <a:xfrm>
            <a:off x="6784593" y="4484370"/>
            <a:ext cx="3916679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Matplotlib, SeaBorn?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735326" y="6974575"/>
            <a:ext cx="9086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TensorBoard</a:t>
            </a: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WandB</a:t>
            </a: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MLflow, neptune.ai, …</a:t>
            </a:r>
            <a:endParaRPr b="0" i="0" sz="3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Làm quen với TensorBoard</a:t>
            </a:r>
            <a:endParaRPr/>
          </a:p>
        </p:txBody>
      </p:sp>
      <p:grpSp>
        <p:nvGrpSpPr>
          <p:cNvPr id="178" name="Google Shape;178;p20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179" name="Google Shape;17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0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Google Shape;181;p20"/>
          <p:cNvSpPr txBox="1"/>
          <p:nvPr/>
        </p:nvSpPr>
        <p:spPr>
          <a:xfrm>
            <a:off x="1915426" y="1968075"/>
            <a:ext cx="86745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Đặc trưng của TensorBoard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Thư viện của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</a:t>
            </a: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 máy chủ cục bộ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6276" y="4408932"/>
            <a:ext cx="8674608" cy="498043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Làm quen với TensorBoard</a:t>
            </a:r>
            <a:endParaRPr/>
          </a:p>
        </p:txBody>
      </p:sp>
      <p:grpSp>
        <p:nvGrpSpPr>
          <p:cNvPr id="189" name="Google Shape;189;p21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190" name="Google Shape;19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1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21"/>
          <p:cNvSpPr txBox="1"/>
          <p:nvPr/>
        </p:nvSpPr>
        <p:spPr>
          <a:xfrm>
            <a:off x="1915426" y="1968075"/>
            <a:ext cx="141312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TensorBoard với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TensorFlow/Keras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Cách 1: </a:t>
            </a: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kế callback function với API của Keras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Cách 2: </a:t>
            </a: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tùy chỉnh với API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cấp thấp </a:t>
            </a: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của TensorFlow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34440" marR="0" rtl="0" algn="l">
              <a:lnSpc>
                <a:spcPct val="100000"/>
              </a:lnSpc>
              <a:spcBef>
                <a:spcPts val="352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Sử dụng callback function						</a:t>
            </a:r>
            <a:r>
              <a:rPr lang="en-US" sz="2800">
                <a:solidFill>
                  <a:srgbClr val="006FC0"/>
                </a:solidFill>
              </a:rPr>
              <a:t>   </a:t>
            </a:r>
            <a:r>
              <a:rPr b="0" i="0" lang="en-US" sz="28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Sử dụng API tensorflow.summary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7860" y="5166359"/>
            <a:ext cx="6684264" cy="3172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10828" y="5152644"/>
            <a:ext cx="7449311" cy="231343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Làm quen với TensorBoard</a:t>
            </a:r>
            <a:endParaRPr/>
          </a:p>
        </p:txBody>
      </p:sp>
      <p:grpSp>
        <p:nvGrpSpPr>
          <p:cNvPr id="201" name="Google Shape;201;p22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202" name="Google Shape;202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22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22"/>
          <p:cNvSpPr txBox="1"/>
          <p:nvPr/>
        </p:nvSpPr>
        <p:spPr>
          <a:xfrm>
            <a:off x="1915426" y="1968075"/>
            <a:ext cx="141045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TensorBoard với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PyTorch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Cách 1: </a:t>
            </a: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 dụng module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torch.utils.tensorboard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Cách 2: </a:t>
            </a: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 dụng thư viện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tensorboardX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1400" y="4305300"/>
            <a:ext cx="4953000" cy="4908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13292" y="5286755"/>
            <a:ext cx="6228588" cy="257087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>
            <p:ph type="title"/>
          </p:nvPr>
        </p:nvSpPr>
        <p:spPr>
          <a:xfrm>
            <a:off x="886460" y="656081"/>
            <a:ext cx="8097520" cy="103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Làm quen với WandB</a:t>
            </a:r>
            <a:endParaRPr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214" name="Google Shape;214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3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" name="Google Shape;216;p23"/>
          <p:cNvSpPr txBox="1"/>
          <p:nvPr/>
        </p:nvSpPr>
        <p:spPr>
          <a:xfrm>
            <a:off x="1915426" y="1968075"/>
            <a:ext cx="125289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Đặc trưng của WandB (Weights &amp; Biases)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</a:t>
            </a: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 máy chủ trực tuyến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 lý dữ liệu qua dịch vụ đám mây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Mở rộng tính năng quản lý (nhóm, chia sẻ)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2688" y="5116067"/>
            <a:ext cx="9701783" cy="414375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type="title"/>
          </p:nvPr>
        </p:nvSpPr>
        <p:spPr>
          <a:xfrm>
            <a:off x="886460" y="656081"/>
            <a:ext cx="8097520" cy="103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Làm quen với WandB</a:t>
            </a:r>
            <a:endParaRPr/>
          </a:p>
        </p:txBody>
      </p:sp>
      <p:grpSp>
        <p:nvGrpSpPr>
          <p:cNvPr id="224" name="Google Shape;224;p24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225" name="Google Shape;225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24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7" name="Google Shape;227;p24"/>
          <p:cNvSpPr txBox="1"/>
          <p:nvPr/>
        </p:nvSpPr>
        <p:spPr>
          <a:xfrm>
            <a:off x="1915426" y="1920800"/>
            <a:ext cx="10461000" cy="15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Cài đặt: </a:t>
            </a:r>
            <a:r>
              <a:rPr b="0" i="1" lang="en-US" sz="42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pip install wandb –qU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Đăng nhập tài khoản và tạo project mới: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p24"/>
          <p:cNvGrpSpPr/>
          <p:nvPr/>
        </p:nvGrpSpPr>
        <p:grpSpPr>
          <a:xfrm>
            <a:off x="1459991" y="4229100"/>
            <a:ext cx="15352777" cy="3419244"/>
            <a:chOff x="1459991" y="4229100"/>
            <a:chExt cx="15352777" cy="3419244"/>
          </a:xfrm>
        </p:grpSpPr>
        <p:pic>
          <p:nvPicPr>
            <p:cNvPr id="229" name="Google Shape;229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59991" y="4229100"/>
              <a:ext cx="4940808" cy="33558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84720" y="4229100"/>
              <a:ext cx="9528048" cy="33558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24"/>
            <p:cNvSpPr/>
            <p:nvPr/>
          </p:nvSpPr>
          <p:spPr>
            <a:xfrm>
              <a:off x="6165470" y="7047634"/>
              <a:ext cx="1117600" cy="600710"/>
            </a:xfrm>
            <a:custGeom>
              <a:rect b="b" l="l" r="r" t="t"/>
              <a:pathLst>
                <a:path extrusionOk="0" h="600709" w="1117600">
                  <a:moveTo>
                    <a:pt x="0" y="0"/>
                  </a:moveTo>
                  <a:lnTo>
                    <a:pt x="18700" y="45597"/>
                  </a:lnTo>
                  <a:lnTo>
                    <a:pt x="40992" y="89522"/>
                  </a:lnTo>
                  <a:lnTo>
                    <a:pt x="66719" y="131625"/>
                  </a:lnTo>
                  <a:lnTo>
                    <a:pt x="95723" y="171758"/>
                  </a:lnTo>
                  <a:lnTo>
                    <a:pt x="127850" y="209773"/>
                  </a:lnTo>
                  <a:lnTo>
                    <a:pt x="162944" y="245521"/>
                  </a:lnTo>
                  <a:lnTo>
                    <a:pt x="200846" y="278853"/>
                  </a:lnTo>
                  <a:lnTo>
                    <a:pt x="240183" y="308764"/>
                  </a:lnTo>
                  <a:lnTo>
                    <a:pt x="281852" y="336121"/>
                  </a:lnTo>
                  <a:lnTo>
                    <a:pt x="325706" y="360791"/>
                  </a:lnTo>
                  <a:lnTo>
                    <a:pt x="371594" y="382646"/>
                  </a:lnTo>
                  <a:lnTo>
                    <a:pt x="419367" y="401555"/>
                  </a:lnTo>
                  <a:lnTo>
                    <a:pt x="468874" y="417386"/>
                  </a:lnTo>
                  <a:lnTo>
                    <a:pt x="519967" y="430011"/>
                  </a:lnTo>
                  <a:lnTo>
                    <a:pt x="572494" y="439298"/>
                  </a:lnTo>
                  <a:lnTo>
                    <a:pt x="634084" y="446454"/>
                  </a:lnTo>
                  <a:lnTo>
                    <a:pt x="633288" y="600492"/>
                  </a:lnTo>
                  <a:lnTo>
                    <a:pt x="1117113" y="325956"/>
                  </a:lnTo>
                  <a:lnTo>
                    <a:pt x="635737" y="67934"/>
                  </a:lnTo>
                  <a:lnTo>
                    <a:pt x="634880" y="228287"/>
                  </a:lnTo>
                  <a:lnTo>
                    <a:pt x="604194" y="233248"/>
                  </a:lnTo>
                  <a:lnTo>
                    <a:pt x="572994" y="236842"/>
                  </a:lnTo>
                  <a:lnTo>
                    <a:pt x="541321" y="239029"/>
                  </a:lnTo>
                  <a:lnTo>
                    <a:pt x="509212" y="239767"/>
                  </a:lnTo>
                  <a:lnTo>
                    <a:pt x="480084" y="239138"/>
                  </a:lnTo>
                  <a:lnTo>
                    <a:pt x="422900" y="234272"/>
                  </a:lnTo>
                  <a:lnTo>
                    <a:pt x="344549" y="219725"/>
                  </a:lnTo>
                  <a:lnTo>
                    <a:pt x="295874" y="205716"/>
                  </a:lnTo>
                  <a:lnTo>
                    <a:pt x="249040" y="188284"/>
                  </a:lnTo>
                  <a:lnTo>
                    <a:pt x="204234" y="167595"/>
                  </a:lnTo>
                  <a:lnTo>
                    <a:pt x="161637" y="143811"/>
                  </a:lnTo>
                  <a:lnTo>
                    <a:pt x="121434" y="117098"/>
                  </a:lnTo>
                  <a:lnTo>
                    <a:pt x="83807" y="87619"/>
                  </a:lnTo>
                  <a:lnTo>
                    <a:pt x="48942" y="55539"/>
                  </a:lnTo>
                  <a:lnTo>
                    <a:pt x="5970" y="8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528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24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/>
          <p:nvPr>
            <p:ph type="title"/>
          </p:nvPr>
        </p:nvSpPr>
        <p:spPr>
          <a:xfrm>
            <a:off x="886460" y="656081"/>
            <a:ext cx="8097520" cy="103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Làm quen với WandB</a:t>
            </a:r>
            <a:endParaRPr/>
          </a:p>
        </p:txBody>
      </p:sp>
      <p:grpSp>
        <p:nvGrpSpPr>
          <p:cNvPr id="238" name="Google Shape;238;p25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239" name="Google Shape;239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5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25"/>
          <p:cNvSpPr txBox="1"/>
          <p:nvPr/>
        </p:nvSpPr>
        <p:spPr>
          <a:xfrm>
            <a:off x="1915426" y="1968075"/>
            <a:ext cx="16086900" cy="29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WandB với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TensorFlow/Keras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Cách 1: </a:t>
            </a: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kế callback function với API của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wandb.keras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10414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Cách 2: </a:t>
            </a: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tùy chỉnh với API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wandb.log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34440" marR="0" rtl="0" algn="l">
              <a:lnSpc>
                <a:spcPct val="100000"/>
              </a:lnSpc>
              <a:spcBef>
                <a:spcPts val="228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Sử dụng callback function	                                  Sử dụng API wanb.log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5120" y="4995671"/>
            <a:ext cx="4809744" cy="1633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2059" y="5000244"/>
            <a:ext cx="7566659" cy="418033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/>
          <p:nvPr>
            <p:ph type="title"/>
          </p:nvPr>
        </p:nvSpPr>
        <p:spPr>
          <a:xfrm>
            <a:off x="886460" y="656081"/>
            <a:ext cx="8097520" cy="103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Làm quen với WandB</a:t>
            </a:r>
            <a:endParaRPr/>
          </a:p>
        </p:txBody>
      </p:sp>
      <p:grpSp>
        <p:nvGrpSpPr>
          <p:cNvPr id="250" name="Google Shape;250;p26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251" name="Google Shape;25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6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p26"/>
          <p:cNvSpPr txBox="1"/>
          <p:nvPr/>
        </p:nvSpPr>
        <p:spPr>
          <a:xfrm>
            <a:off x="1710775" y="1920800"/>
            <a:ext cx="7273200" cy="15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950">
            <a:spAutoFit/>
          </a:bodyPr>
          <a:lstStyle/>
          <a:p>
            <a:pPr indent="0" lvl="0" marL="0" marR="18573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WandB với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PyTorch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ctr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 dụng API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wandb.log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4306823"/>
            <a:ext cx="5562600" cy="3433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5380" y="4305300"/>
            <a:ext cx="6865620" cy="275087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TensorBoard hay WandB?</a:t>
            </a:r>
            <a:endParaRPr/>
          </a:p>
        </p:txBody>
      </p:sp>
      <p:grpSp>
        <p:nvGrpSpPr>
          <p:cNvPr id="262" name="Google Shape;262;p27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263" name="Google Shape;263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27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5" name="Google Shape;26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1877" y="3182111"/>
            <a:ext cx="6145426" cy="47999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27"/>
          <p:cNvGrpSpPr/>
          <p:nvPr/>
        </p:nvGrpSpPr>
        <p:grpSpPr>
          <a:xfrm>
            <a:off x="2530094" y="3140964"/>
            <a:ext cx="6264909" cy="4609101"/>
            <a:chOff x="2530094" y="3140964"/>
            <a:chExt cx="6264909" cy="4609101"/>
          </a:xfrm>
        </p:grpSpPr>
        <p:pic>
          <p:nvPicPr>
            <p:cNvPr id="267" name="Google Shape;267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30094" y="3140964"/>
              <a:ext cx="6264909" cy="4609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49319" y="4243070"/>
              <a:ext cx="1580480" cy="7124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59685" y="3782441"/>
              <a:ext cx="1772935" cy="7505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0" name="Google Shape;270;p27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"/>
          <p:cNvSpPr txBox="1"/>
          <p:nvPr>
            <p:ph type="title"/>
          </p:nvPr>
        </p:nvSpPr>
        <p:spPr>
          <a:xfrm>
            <a:off x="2618411" y="3772346"/>
            <a:ext cx="13051200" cy="27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4925">
            <a:spAutoFit/>
          </a:bodyPr>
          <a:lstStyle/>
          <a:p>
            <a:pPr indent="-4281805" lvl="0" marL="4293870" marR="508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100"/>
              <a:t>Những điều cần ghi nhớ sau buổi học?</a:t>
            </a:r>
            <a:endParaRPr sz="8100"/>
          </a:p>
        </p:txBody>
      </p:sp>
      <p:sp>
        <p:nvSpPr>
          <p:cNvPr id="276" name="Google Shape;276;p28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/>
          <p:nvPr>
            <p:ph type="title"/>
          </p:nvPr>
        </p:nvSpPr>
        <p:spPr>
          <a:xfrm>
            <a:off x="886460" y="656081"/>
            <a:ext cx="15327630" cy="103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Tổng quan bài học</a:t>
            </a:r>
            <a:endParaRPr/>
          </a:p>
        </p:txBody>
      </p:sp>
      <p:grpSp>
        <p:nvGrpSpPr>
          <p:cNvPr id="282" name="Google Shape;282;p29"/>
          <p:cNvGrpSpPr/>
          <p:nvPr/>
        </p:nvGrpSpPr>
        <p:grpSpPr>
          <a:xfrm>
            <a:off x="774191" y="9717023"/>
            <a:ext cx="16543019" cy="407034"/>
            <a:chOff x="774191" y="9717023"/>
            <a:chExt cx="16543019" cy="407034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191" y="9922763"/>
              <a:ext cx="16543019" cy="68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/>
            <p:nvPr/>
          </p:nvSpPr>
          <p:spPr>
            <a:xfrm>
              <a:off x="7373111" y="9717023"/>
              <a:ext cx="4555490" cy="407034"/>
            </a:xfrm>
            <a:custGeom>
              <a:rect b="b" l="l" r="r" t="t"/>
              <a:pathLst>
                <a:path extrusionOk="0" h="407034" w="4555490">
                  <a:moveTo>
                    <a:pt x="4555236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4555236" y="406907"/>
                  </a:lnTo>
                  <a:lnTo>
                    <a:pt x="4555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" name="Google Shape;285;p29"/>
          <p:cNvSpPr txBox="1"/>
          <p:nvPr/>
        </p:nvSpPr>
        <p:spPr>
          <a:xfrm>
            <a:off x="2429636" y="1930331"/>
            <a:ext cx="14902200" cy="5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7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Tại sao chúng ta nên khởi đầu với PyTorch?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624965" marR="0" rtl="0" algn="l">
              <a:lnSpc>
                <a:spcPct val="100000"/>
              </a:lnSpc>
              <a:spcBef>
                <a:spcPts val="2355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tận dụng black box khi bạn đã nắm được căn bản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59585" lvl="0" marL="1771650" marR="5080" rtl="0" algn="l">
              <a:lnSpc>
                <a:spcPct val="160000"/>
              </a:lnSpc>
              <a:spcBef>
                <a:spcPts val="325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Tại sao phải trực quan hóa quá trình huấn luyện mô hình? </a:t>
            </a:r>
            <a:r>
              <a:rPr b="0" i="0" lang="en-US" sz="42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huấn luyện mô hình đòi hỏi giám sát kĩ càng và nhiều tinh chỉnh hợp lý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2449538" y="2932042"/>
            <a:ext cx="1369695" cy="812165"/>
          </a:xfrm>
          <a:custGeom>
            <a:rect b="b" l="l" r="r" t="t"/>
            <a:pathLst>
              <a:path extrusionOk="0" h="812164" w="1369695">
                <a:moveTo>
                  <a:pt x="779243" y="807192"/>
                </a:moveTo>
                <a:lnTo>
                  <a:pt x="793782" y="811701"/>
                </a:lnTo>
                <a:lnTo>
                  <a:pt x="802270" y="811685"/>
                </a:lnTo>
                <a:lnTo>
                  <a:pt x="843174" y="808943"/>
                </a:lnTo>
                <a:lnTo>
                  <a:pt x="885787" y="801269"/>
                </a:lnTo>
                <a:lnTo>
                  <a:pt x="935862" y="789085"/>
                </a:lnTo>
                <a:lnTo>
                  <a:pt x="946742" y="786228"/>
                </a:lnTo>
                <a:lnTo>
                  <a:pt x="996745" y="774826"/>
                </a:lnTo>
                <a:lnTo>
                  <a:pt x="1052227" y="763473"/>
                </a:lnTo>
                <a:lnTo>
                  <a:pt x="1104835" y="752883"/>
                </a:lnTo>
                <a:lnTo>
                  <a:pt x="1158669" y="741315"/>
                </a:lnTo>
                <a:lnTo>
                  <a:pt x="1212543" y="728003"/>
                </a:lnTo>
                <a:lnTo>
                  <a:pt x="1274259" y="708875"/>
                </a:lnTo>
                <a:lnTo>
                  <a:pt x="1331148" y="685609"/>
                </a:lnTo>
                <a:lnTo>
                  <a:pt x="1362342" y="662436"/>
                </a:lnTo>
                <a:lnTo>
                  <a:pt x="1369252" y="639695"/>
                </a:lnTo>
                <a:lnTo>
                  <a:pt x="1367412" y="630988"/>
                </a:lnTo>
                <a:lnTo>
                  <a:pt x="1330046" y="600259"/>
                </a:lnTo>
                <a:lnTo>
                  <a:pt x="1321297" y="595948"/>
                </a:lnTo>
                <a:lnTo>
                  <a:pt x="1294941" y="582374"/>
                </a:lnTo>
                <a:lnTo>
                  <a:pt x="1269056" y="568503"/>
                </a:lnTo>
                <a:lnTo>
                  <a:pt x="1243548" y="554409"/>
                </a:lnTo>
                <a:lnTo>
                  <a:pt x="1228718" y="546036"/>
                </a:lnTo>
                <a:lnTo>
                  <a:pt x="1256982" y="648117"/>
                </a:lnTo>
                <a:lnTo>
                  <a:pt x="1249398" y="650899"/>
                </a:lnTo>
                <a:lnTo>
                  <a:pt x="1252840" y="663333"/>
                </a:lnTo>
                <a:lnTo>
                  <a:pt x="1251350" y="669485"/>
                </a:lnTo>
                <a:lnTo>
                  <a:pt x="1247359" y="671873"/>
                </a:lnTo>
                <a:lnTo>
                  <a:pt x="1243328" y="671775"/>
                </a:lnTo>
                <a:lnTo>
                  <a:pt x="1192868" y="672155"/>
                </a:lnTo>
                <a:lnTo>
                  <a:pt x="1180565" y="671962"/>
                </a:lnTo>
                <a:lnTo>
                  <a:pt x="1142642" y="681806"/>
                </a:lnTo>
                <a:lnTo>
                  <a:pt x="1087705" y="694280"/>
                </a:lnTo>
                <a:lnTo>
                  <a:pt x="1031773" y="706234"/>
                </a:lnTo>
                <a:lnTo>
                  <a:pt x="982515" y="716951"/>
                </a:lnTo>
                <a:lnTo>
                  <a:pt x="933151" y="728869"/>
                </a:lnTo>
                <a:lnTo>
                  <a:pt x="812801" y="759127"/>
                </a:lnTo>
                <a:lnTo>
                  <a:pt x="776097" y="793281"/>
                </a:lnTo>
                <a:lnTo>
                  <a:pt x="779243" y="807192"/>
                </a:lnTo>
                <a:close/>
              </a:path>
              <a:path extrusionOk="0" h="812164" w="1369695">
                <a:moveTo>
                  <a:pt x="951288" y="415550"/>
                </a:moveTo>
                <a:lnTo>
                  <a:pt x="957270" y="420522"/>
                </a:lnTo>
                <a:lnTo>
                  <a:pt x="989085" y="454939"/>
                </a:lnTo>
                <a:lnTo>
                  <a:pt x="1021681" y="488273"/>
                </a:lnTo>
                <a:lnTo>
                  <a:pt x="1055961" y="520168"/>
                </a:lnTo>
                <a:lnTo>
                  <a:pt x="1092829" y="550262"/>
                </a:lnTo>
                <a:lnTo>
                  <a:pt x="1130830" y="576792"/>
                </a:lnTo>
                <a:lnTo>
                  <a:pt x="1171232" y="601562"/>
                </a:lnTo>
                <a:lnTo>
                  <a:pt x="1213470" y="625146"/>
                </a:lnTo>
                <a:lnTo>
                  <a:pt x="1256982" y="648117"/>
                </a:lnTo>
                <a:lnTo>
                  <a:pt x="1228718" y="546036"/>
                </a:lnTo>
                <a:lnTo>
                  <a:pt x="1218321" y="540166"/>
                </a:lnTo>
                <a:lnTo>
                  <a:pt x="1194923" y="526550"/>
                </a:lnTo>
                <a:lnTo>
                  <a:pt x="1148711" y="498886"/>
                </a:lnTo>
                <a:lnTo>
                  <a:pt x="1125466" y="485162"/>
                </a:lnTo>
                <a:lnTo>
                  <a:pt x="1054688" y="444339"/>
                </a:lnTo>
                <a:lnTo>
                  <a:pt x="1019494" y="423376"/>
                </a:lnTo>
                <a:lnTo>
                  <a:pt x="984792" y="401309"/>
                </a:lnTo>
                <a:lnTo>
                  <a:pt x="979639" y="398573"/>
                </a:lnTo>
                <a:lnTo>
                  <a:pt x="973341" y="397795"/>
                </a:lnTo>
                <a:lnTo>
                  <a:pt x="966698" y="398939"/>
                </a:lnTo>
                <a:lnTo>
                  <a:pt x="960512" y="401970"/>
                </a:lnTo>
                <a:lnTo>
                  <a:pt x="952951" y="407261"/>
                </a:lnTo>
                <a:lnTo>
                  <a:pt x="951288" y="415550"/>
                </a:lnTo>
                <a:close/>
              </a:path>
              <a:path extrusionOk="0" h="812164" w="1369695">
                <a:moveTo>
                  <a:pt x="1227362" y="658515"/>
                </a:moveTo>
                <a:lnTo>
                  <a:pt x="1246419" y="660539"/>
                </a:lnTo>
                <a:lnTo>
                  <a:pt x="1250451" y="660637"/>
                </a:lnTo>
                <a:lnTo>
                  <a:pt x="1252840" y="663333"/>
                </a:lnTo>
                <a:lnTo>
                  <a:pt x="1249398" y="650899"/>
                </a:lnTo>
                <a:lnTo>
                  <a:pt x="1242205" y="653538"/>
                </a:lnTo>
                <a:lnTo>
                  <a:pt x="1227362" y="658515"/>
                </a:lnTo>
                <a:close/>
              </a:path>
              <a:path extrusionOk="0" h="812164" w="1369695">
                <a:moveTo>
                  <a:pt x="125" y="49841"/>
                </a:moveTo>
                <a:lnTo>
                  <a:pt x="19374" y="99237"/>
                </a:lnTo>
                <a:lnTo>
                  <a:pt x="43802" y="139491"/>
                </a:lnTo>
                <a:lnTo>
                  <a:pt x="86067" y="196104"/>
                </a:lnTo>
                <a:lnTo>
                  <a:pt x="146539" y="262274"/>
                </a:lnTo>
                <a:lnTo>
                  <a:pt x="185944" y="299814"/>
                </a:lnTo>
                <a:lnTo>
                  <a:pt x="227062" y="336078"/>
                </a:lnTo>
                <a:lnTo>
                  <a:pt x="269300" y="371250"/>
                </a:lnTo>
                <a:lnTo>
                  <a:pt x="306499" y="399973"/>
                </a:lnTo>
                <a:lnTo>
                  <a:pt x="344848" y="427677"/>
                </a:lnTo>
                <a:lnTo>
                  <a:pt x="384447" y="454219"/>
                </a:lnTo>
                <a:lnTo>
                  <a:pt x="425399" y="479451"/>
                </a:lnTo>
                <a:lnTo>
                  <a:pt x="467806" y="503231"/>
                </a:lnTo>
                <a:lnTo>
                  <a:pt x="512181" y="525694"/>
                </a:lnTo>
                <a:lnTo>
                  <a:pt x="557835" y="546699"/>
                </a:lnTo>
                <a:lnTo>
                  <a:pt x="604723" y="566240"/>
                </a:lnTo>
                <a:lnTo>
                  <a:pt x="652798" y="584311"/>
                </a:lnTo>
                <a:lnTo>
                  <a:pt x="702015" y="600909"/>
                </a:lnTo>
                <a:lnTo>
                  <a:pt x="739721" y="612287"/>
                </a:lnTo>
                <a:lnTo>
                  <a:pt x="777995" y="622792"/>
                </a:lnTo>
                <a:lnTo>
                  <a:pt x="816888" y="632322"/>
                </a:lnTo>
                <a:lnTo>
                  <a:pt x="856454" y="640777"/>
                </a:lnTo>
                <a:lnTo>
                  <a:pt x="902577" y="649088"/>
                </a:lnTo>
                <a:lnTo>
                  <a:pt x="949378" y="656080"/>
                </a:lnTo>
                <a:lnTo>
                  <a:pt x="996836" y="661778"/>
                </a:lnTo>
                <a:lnTo>
                  <a:pt x="1044934" y="666209"/>
                </a:lnTo>
                <a:lnTo>
                  <a:pt x="1093652" y="669398"/>
                </a:lnTo>
                <a:lnTo>
                  <a:pt x="1142970" y="671371"/>
                </a:lnTo>
                <a:lnTo>
                  <a:pt x="1180565" y="671962"/>
                </a:lnTo>
                <a:lnTo>
                  <a:pt x="1195921" y="667969"/>
                </a:lnTo>
                <a:lnTo>
                  <a:pt x="1211480" y="663449"/>
                </a:lnTo>
                <a:lnTo>
                  <a:pt x="1227362" y="658515"/>
                </a:lnTo>
                <a:lnTo>
                  <a:pt x="1191862" y="654732"/>
                </a:lnTo>
                <a:lnTo>
                  <a:pt x="1139211" y="647450"/>
                </a:lnTo>
                <a:lnTo>
                  <a:pt x="1087163" y="638621"/>
                </a:lnTo>
                <a:lnTo>
                  <a:pt x="1036054" y="628400"/>
                </a:lnTo>
                <a:lnTo>
                  <a:pt x="985807" y="616885"/>
                </a:lnTo>
                <a:lnTo>
                  <a:pt x="936349" y="604173"/>
                </a:lnTo>
                <a:lnTo>
                  <a:pt x="887603" y="590363"/>
                </a:lnTo>
                <a:lnTo>
                  <a:pt x="816012" y="567865"/>
                </a:lnTo>
                <a:lnTo>
                  <a:pt x="746383" y="543238"/>
                </a:lnTo>
                <a:lnTo>
                  <a:pt x="701215" y="525471"/>
                </a:lnTo>
                <a:lnTo>
                  <a:pt x="657022" y="506574"/>
                </a:lnTo>
                <a:lnTo>
                  <a:pt x="613764" y="486592"/>
                </a:lnTo>
                <a:lnTo>
                  <a:pt x="571404" y="465568"/>
                </a:lnTo>
                <a:lnTo>
                  <a:pt x="529902" y="443549"/>
                </a:lnTo>
                <a:lnTo>
                  <a:pt x="489541" y="420935"/>
                </a:lnTo>
                <a:lnTo>
                  <a:pt x="449930" y="397431"/>
                </a:lnTo>
                <a:lnTo>
                  <a:pt x="411234" y="372959"/>
                </a:lnTo>
                <a:lnTo>
                  <a:pt x="373616" y="347444"/>
                </a:lnTo>
                <a:lnTo>
                  <a:pt x="337241" y="320809"/>
                </a:lnTo>
                <a:lnTo>
                  <a:pt x="301551" y="293787"/>
                </a:lnTo>
                <a:lnTo>
                  <a:pt x="266588" y="266047"/>
                </a:lnTo>
                <a:lnTo>
                  <a:pt x="232580" y="237509"/>
                </a:lnTo>
                <a:lnTo>
                  <a:pt x="199754" y="208092"/>
                </a:lnTo>
                <a:lnTo>
                  <a:pt x="168664" y="178058"/>
                </a:lnTo>
                <a:lnTo>
                  <a:pt x="139277" y="147099"/>
                </a:lnTo>
                <a:lnTo>
                  <a:pt x="111985" y="115037"/>
                </a:lnTo>
                <a:lnTo>
                  <a:pt x="87179" y="81699"/>
                </a:lnTo>
                <a:lnTo>
                  <a:pt x="27582" y="4462"/>
                </a:lnTo>
                <a:lnTo>
                  <a:pt x="23798" y="1662"/>
                </a:lnTo>
                <a:lnTo>
                  <a:pt x="22042" y="0"/>
                </a:lnTo>
                <a:lnTo>
                  <a:pt x="19578" y="1048"/>
                </a:lnTo>
                <a:lnTo>
                  <a:pt x="13349" y="4315"/>
                </a:lnTo>
                <a:lnTo>
                  <a:pt x="7997" y="8748"/>
                </a:lnTo>
                <a:lnTo>
                  <a:pt x="3541" y="15162"/>
                </a:lnTo>
                <a:lnTo>
                  <a:pt x="0" y="24374"/>
                </a:lnTo>
                <a:lnTo>
                  <a:pt x="125" y="498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2449538" y="4988920"/>
            <a:ext cx="1369695" cy="812164"/>
          </a:xfrm>
          <a:custGeom>
            <a:rect b="b" l="l" r="r" t="t"/>
            <a:pathLst>
              <a:path extrusionOk="0" h="812164" w="1369695">
                <a:moveTo>
                  <a:pt x="779243" y="807192"/>
                </a:moveTo>
                <a:lnTo>
                  <a:pt x="793782" y="811701"/>
                </a:lnTo>
                <a:lnTo>
                  <a:pt x="802270" y="811685"/>
                </a:lnTo>
                <a:lnTo>
                  <a:pt x="843174" y="808943"/>
                </a:lnTo>
                <a:lnTo>
                  <a:pt x="885787" y="801269"/>
                </a:lnTo>
                <a:lnTo>
                  <a:pt x="935862" y="789085"/>
                </a:lnTo>
                <a:lnTo>
                  <a:pt x="946742" y="786228"/>
                </a:lnTo>
                <a:lnTo>
                  <a:pt x="996745" y="774826"/>
                </a:lnTo>
                <a:lnTo>
                  <a:pt x="1052227" y="763473"/>
                </a:lnTo>
                <a:lnTo>
                  <a:pt x="1104835" y="752883"/>
                </a:lnTo>
                <a:lnTo>
                  <a:pt x="1158669" y="741315"/>
                </a:lnTo>
                <a:lnTo>
                  <a:pt x="1212543" y="728003"/>
                </a:lnTo>
                <a:lnTo>
                  <a:pt x="1274259" y="708875"/>
                </a:lnTo>
                <a:lnTo>
                  <a:pt x="1331148" y="685609"/>
                </a:lnTo>
                <a:lnTo>
                  <a:pt x="1362342" y="662436"/>
                </a:lnTo>
                <a:lnTo>
                  <a:pt x="1369252" y="639695"/>
                </a:lnTo>
                <a:lnTo>
                  <a:pt x="1367412" y="630988"/>
                </a:lnTo>
                <a:lnTo>
                  <a:pt x="1330046" y="600259"/>
                </a:lnTo>
                <a:lnTo>
                  <a:pt x="1321297" y="595948"/>
                </a:lnTo>
                <a:lnTo>
                  <a:pt x="1294941" y="582374"/>
                </a:lnTo>
                <a:lnTo>
                  <a:pt x="1269056" y="568503"/>
                </a:lnTo>
                <a:lnTo>
                  <a:pt x="1243548" y="554409"/>
                </a:lnTo>
                <a:lnTo>
                  <a:pt x="1228718" y="546036"/>
                </a:lnTo>
                <a:lnTo>
                  <a:pt x="1256982" y="648117"/>
                </a:lnTo>
                <a:lnTo>
                  <a:pt x="1249398" y="650899"/>
                </a:lnTo>
                <a:lnTo>
                  <a:pt x="1252840" y="663333"/>
                </a:lnTo>
                <a:lnTo>
                  <a:pt x="1251350" y="669485"/>
                </a:lnTo>
                <a:lnTo>
                  <a:pt x="1247359" y="671873"/>
                </a:lnTo>
                <a:lnTo>
                  <a:pt x="1243328" y="671775"/>
                </a:lnTo>
                <a:lnTo>
                  <a:pt x="1192868" y="672155"/>
                </a:lnTo>
                <a:lnTo>
                  <a:pt x="1180565" y="671962"/>
                </a:lnTo>
                <a:lnTo>
                  <a:pt x="1142642" y="681806"/>
                </a:lnTo>
                <a:lnTo>
                  <a:pt x="1087705" y="694280"/>
                </a:lnTo>
                <a:lnTo>
                  <a:pt x="1031773" y="706234"/>
                </a:lnTo>
                <a:lnTo>
                  <a:pt x="982515" y="716951"/>
                </a:lnTo>
                <a:lnTo>
                  <a:pt x="933151" y="728869"/>
                </a:lnTo>
                <a:lnTo>
                  <a:pt x="812801" y="759127"/>
                </a:lnTo>
                <a:lnTo>
                  <a:pt x="776097" y="793281"/>
                </a:lnTo>
                <a:lnTo>
                  <a:pt x="779243" y="807192"/>
                </a:lnTo>
                <a:close/>
              </a:path>
              <a:path extrusionOk="0" h="812164" w="1369695">
                <a:moveTo>
                  <a:pt x="951288" y="415550"/>
                </a:moveTo>
                <a:lnTo>
                  <a:pt x="957270" y="420522"/>
                </a:lnTo>
                <a:lnTo>
                  <a:pt x="989085" y="454939"/>
                </a:lnTo>
                <a:lnTo>
                  <a:pt x="1021681" y="488273"/>
                </a:lnTo>
                <a:lnTo>
                  <a:pt x="1055961" y="520168"/>
                </a:lnTo>
                <a:lnTo>
                  <a:pt x="1092829" y="550262"/>
                </a:lnTo>
                <a:lnTo>
                  <a:pt x="1130830" y="576792"/>
                </a:lnTo>
                <a:lnTo>
                  <a:pt x="1171232" y="601562"/>
                </a:lnTo>
                <a:lnTo>
                  <a:pt x="1213470" y="625146"/>
                </a:lnTo>
                <a:lnTo>
                  <a:pt x="1256982" y="648117"/>
                </a:lnTo>
                <a:lnTo>
                  <a:pt x="1228718" y="546036"/>
                </a:lnTo>
                <a:lnTo>
                  <a:pt x="1218321" y="540166"/>
                </a:lnTo>
                <a:lnTo>
                  <a:pt x="1194923" y="526550"/>
                </a:lnTo>
                <a:lnTo>
                  <a:pt x="1148711" y="498886"/>
                </a:lnTo>
                <a:lnTo>
                  <a:pt x="1125466" y="485162"/>
                </a:lnTo>
                <a:lnTo>
                  <a:pt x="1054688" y="444339"/>
                </a:lnTo>
                <a:lnTo>
                  <a:pt x="1019494" y="423376"/>
                </a:lnTo>
                <a:lnTo>
                  <a:pt x="984792" y="401309"/>
                </a:lnTo>
                <a:lnTo>
                  <a:pt x="979639" y="398573"/>
                </a:lnTo>
                <a:lnTo>
                  <a:pt x="973341" y="397795"/>
                </a:lnTo>
                <a:lnTo>
                  <a:pt x="966698" y="398939"/>
                </a:lnTo>
                <a:lnTo>
                  <a:pt x="960512" y="401970"/>
                </a:lnTo>
                <a:lnTo>
                  <a:pt x="952951" y="407261"/>
                </a:lnTo>
                <a:lnTo>
                  <a:pt x="951288" y="415550"/>
                </a:lnTo>
                <a:close/>
              </a:path>
              <a:path extrusionOk="0" h="812164" w="1369695">
                <a:moveTo>
                  <a:pt x="1227362" y="658515"/>
                </a:moveTo>
                <a:lnTo>
                  <a:pt x="1246419" y="660539"/>
                </a:lnTo>
                <a:lnTo>
                  <a:pt x="1250451" y="660637"/>
                </a:lnTo>
                <a:lnTo>
                  <a:pt x="1252840" y="663333"/>
                </a:lnTo>
                <a:lnTo>
                  <a:pt x="1249398" y="650899"/>
                </a:lnTo>
                <a:lnTo>
                  <a:pt x="1242205" y="653538"/>
                </a:lnTo>
                <a:lnTo>
                  <a:pt x="1227362" y="658515"/>
                </a:lnTo>
                <a:close/>
              </a:path>
              <a:path extrusionOk="0" h="812164" w="1369695">
                <a:moveTo>
                  <a:pt x="125" y="49841"/>
                </a:moveTo>
                <a:lnTo>
                  <a:pt x="19374" y="99237"/>
                </a:lnTo>
                <a:lnTo>
                  <a:pt x="43802" y="139491"/>
                </a:lnTo>
                <a:lnTo>
                  <a:pt x="86067" y="196104"/>
                </a:lnTo>
                <a:lnTo>
                  <a:pt x="146539" y="262274"/>
                </a:lnTo>
                <a:lnTo>
                  <a:pt x="185944" y="299814"/>
                </a:lnTo>
                <a:lnTo>
                  <a:pt x="227062" y="336078"/>
                </a:lnTo>
                <a:lnTo>
                  <a:pt x="269300" y="371250"/>
                </a:lnTo>
                <a:lnTo>
                  <a:pt x="306499" y="399973"/>
                </a:lnTo>
                <a:lnTo>
                  <a:pt x="344848" y="427677"/>
                </a:lnTo>
                <a:lnTo>
                  <a:pt x="384447" y="454219"/>
                </a:lnTo>
                <a:lnTo>
                  <a:pt x="425399" y="479451"/>
                </a:lnTo>
                <a:lnTo>
                  <a:pt x="467806" y="503231"/>
                </a:lnTo>
                <a:lnTo>
                  <a:pt x="512181" y="525694"/>
                </a:lnTo>
                <a:lnTo>
                  <a:pt x="557835" y="546699"/>
                </a:lnTo>
                <a:lnTo>
                  <a:pt x="604723" y="566240"/>
                </a:lnTo>
                <a:lnTo>
                  <a:pt x="652798" y="584311"/>
                </a:lnTo>
                <a:lnTo>
                  <a:pt x="702015" y="600909"/>
                </a:lnTo>
                <a:lnTo>
                  <a:pt x="739721" y="612287"/>
                </a:lnTo>
                <a:lnTo>
                  <a:pt x="777995" y="622792"/>
                </a:lnTo>
                <a:lnTo>
                  <a:pt x="816888" y="632322"/>
                </a:lnTo>
                <a:lnTo>
                  <a:pt x="856454" y="640777"/>
                </a:lnTo>
                <a:lnTo>
                  <a:pt x="902577" y="649088"/>
                </a:lnTo>
                <a:lnTo>
                  <a:pt x="949378" y="656080"/>
                </a:lnTo>
                <a:lnTo>
                  <a:pt x="996836" y="661778"/>
                </a:lnTo>
                <a:lnTo>
                  <a:pt x="1044934" y="666209"/>
                </a:lnTo>
                <a:lnTo>
                  <a:pt x="1093652" y="669398"/>
                </a:lnTo>
                <a:lnTo>
                  <a:pt x="1142970" y="671371"/>
                </a:lnTo>
                <a:lnTo>
                  <a:pt x="1180565" y="671962"/>
                </a:lnTo>
                <a:lnTo>
                  <a:pt x="1195921" y="667969"/>
                </a:lnTo>
                <a:lnTo>
                  <a:pt x="1211480" y="663449"/>
                </a:lnTo>
                <a:lnTo>
                  <a:pt x="1227362" y="658515"/>
                </a:lnTo>
                <a:lnTo>
                  <a:pt x="1191862" y="654732"/>
                </a:lnTo>
                <a:lnTo>
                  <a:pt x="1139211" y="647450"/>
                </a:lnTo>
                <a:lnTo>
                  <a:pt x="1087163" y="638621"/>
                </a:lnTo>
                <a:lnTo>
                  <a:pt x="1036054" y="628400"/>
                </a:lnTo>
                <a:lnTo>
                  <a:pt x="985807" y="616885"/>
                </a:lnTo>
                <a:lnTo>
                  <a:pt x="936349" y="604173"/>
                </a:lnTo>
                <a:lnTo>
                  <a:pt x="887603" y="590363"/>
                </a:lnTo>
                <a:lnTo>
                  <a:pt x="816012" y="567865"/>
                </a:lnTo>
                <a:lnTo>
                  <a:pt x="746383" y="543238"/>
                </a:lnTo>
                <a:lnTo>
                  <a:pt x="701215" y="525471"/>
                </a:lnTo>
                <a:lnTo>
                  <a:pt x="657022" y="506574"/>
                </a:lnTo>
                <a:lnTo>
                  <a:pt x="613764" y="486592"/>
                </a:lnTo>
                <a:lnTo>
                  <a:pt x="571404" y="465568"/>
                </a:lnTo>
                <a:lnTo>
                  <a:pt x="529902" y="443549"/>
                </a:lnTo>
                <a:lnTo>
                  <a:pt x="489541" y="420935"/>
                </a:lnTo>
                <a:lnTo>
                  <a:pt x="449930" y="397431"/>
                </a:lnTo>
                <a:lnTo>
                  <a:pt x="411234" y="372959"/>
                </a:lnTo>
                <a:lnTo>
                  <a:pt x="373616" y="347444"/>
                </a:lnTo>
                <a:lnTo>
                  <a:pt x="337241" y="320809"/>
                </a:lnTo>
                <a:lnTo>
                  <a:pt x="301551" y="293787"/>
                </a:lnTo>
                <a:lnTo>
                  <a:pt x="266588" y="266047"/>
                </a:lnTo>
                <a:lnTo>
                  <a:pt x="232580" y="237509"/>
                </a:lnTo>
                <a:lnTo>
                  <a:pt x="199754" y="208092"/>
                </a:lnTo>
                <a:lnTo>
                  <a:pt x="168664" y="178058"/>
                </a:lnTo>
                <a:lnTo>
                  <a:pt x="139277" y="147099"/>
                </a:lnTo>
                <a:lnTo>
                  <a:pt x="111985" y="115037"/>
                </a:lnTo>
                <a:lnTo>
                  <a:pt x="87179" y="81699"/>
                </a:lnTo>
                <a:lnTo>
                  <a:pt x="27582" y="4462"/>
                </a:lnTo>
                <a:lnTo>
                  <a:pt x="23798" y="1662"/>
                </a:lnTo>
                <a:lnTo>
                  <a:pt x="22042" y="0"/>
                </a:lnTo>
                <a:lnTo>
                  <a:pt x="19578" y="1048"/>
                </a:lnTo>
                <a:lnTo>
                  <a:pt x="13349" y="4315"/>
                </a:lnTo>
                <a:lnTo>
                  <a:pt x="7997" y="8748"/>
                </a:lnTo>
                <a:lnTo>
                  <a:pt x="3541" y="15162"/>
                </a:lnTo>
                <a:lnTo>
                  <a:pt x="0" y="24374"/>
                </a:lnTo>
                <a:lnTo>
                  <a:pt x="125" y="498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9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 txBox="1"/>
          <p:nvPr>
            <p:ph type="title"/>
          </p:nvPr>
        </p:nvSpPr>
        <p:spPr>
          <a:xfrm>
            <a:off x="2161158" y="4791583"/>
            <a:ext cx="13971269" cy="909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800">
                <a:latin typeface="Arial"/>
                <a:ea typeface="Arial"/>
                <a:cs typeface="Arial"/>
                <a:sym typeface="Arial"/>
              </a:rPr>
              <a:t>Xin	chân thành cảm ơn vì đã lắng nghe!</a:t>
            </a:r>
            <a:endParaRPr sz="5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 txBox="1"/>
          <p:nvPr>
            <p:ph idx="12" type="sldNum"/>
          </p:nvPr>
        </p:nvSpPr>
        <p:spPr>
          <a:xfrm>
            <a:off x="17389475" y="9381249"/>
            <a:ext cx="34226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2025-03-07T23:38:45Z</dcterms:created>
  <dc:creator>admin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2025-03-07T00:00:00Z</vt:filetime>
  </property>
  <property fmtid="{D5CDD505-2E9C-101B-9397-08002B2CF9AE}" pid="5" name="Producer">
    <vt:lpwstr>Microsoft® PowerPoint® for Microsoft 365</vt:lpwstr>
  </property>
</Properties>
</file>